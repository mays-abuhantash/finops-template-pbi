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FinOps Cockpit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drop-in Power BI accelerator that turns raw Azure Cost Management exports into boardroom-ready FinOps insight — no middleware, no SaaS, no code.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8346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73405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money go?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spend by subscription, service, region &amp; trend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930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339242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leaking money?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Governance — tag coverage and cost-center attribution gaps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15137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40507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paying retail?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Optimization — reservation &amp; savings-plan coverage vs. on-demand</a:t>
            </a:r>
            <a:endParaRPr lang="en-US" sz="1350" dirty="0"/>
          </a:p>
        </p:txBody>
      </p:sp>
      <p:pic>
        <p:nvPicPr>
          <p:cNvPr id="11" name="Image 3" descr="01-executive-sum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914400"/>
            <a:ext cx="4983480" cy="2935224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pic>
      <p:sp>
        <p:nvSpPr>
          <p:cNvPr id="12" name="Text 6"/>
          <p:cNvSpPr/>
          <p:nvPr/>
        </p:nvSpPr>
        <p:spPr>
          <a:xfrm>
            <a:off x="6629400" y="39136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3 — Executive Summary (out-of-the-box)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640080" y="5074920"/>
            <a:ext cx="10927080" cy="1325880"/>
          </a:xfrm>
          <a:prstGeom prst="roundRect">
            <a:avLst>
              <a:gd name="adj" fmla="val 6207"/>
            </a:avLst>
          </a:prstGeom>
          <a:solidFill>
            <a:srgbClr val="142C46"/>
          </a:solidFill>
          <a:ln/>
        </p:spPr>
      </p:sp>
      <p:sp>
        <p:nvSpPr>
          <p:cNvPr id="14" name="Text 8"/>
          <p:cNvSpPr/>
          <p:nvPr/>
        </p:nvSpPr>
        <p:spPr>
          <a:xfrm>
            <a:off x="822960" y="52120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822960" y="57972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DAX measures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3529584" y="52120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1"/>
          <p:cNvSpPr/>
          <p:nvPr/>
        </p:nvSpPr>
        <p:spPr>
          <a:xfrm>
            <a:off x="3529584" y="57972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pages, 62 visuals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236208" y="52120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 min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6236208" y="57972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export to insight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942832" y="52120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8942832" y="57972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or middleware cost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Review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Blob-direct ingestion — no data warehouse, no ETL service between the export and the report.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EFF5FB"/>
          </a:solidFill>
          <a:ln/>
          <a:effectLst>
            <a:outerShdw sx="100000" sy="100000" kx="0" ky="0" algn="bl" rotWithShape="0" blurRad="101600" dist="38100" dir="5400000">
              <a:srgbClr val="9FB4C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CFE4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7510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6888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8803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daily export (month-to-date)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MCA + FOCUS 1.0 formats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 CSV.GZ output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60020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EFF5FB"/>
          </a:solidFill>
          <a:ln/>
          <a:effectLst>
            <a:outerShdw sx="100000" sy="100000" kx="0" ky="0" algn="bl" rotWithShape="0" blurRad="101600" dist="38100" dir="5400000">
              <a:srgbClr val="9FB4C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1856232"/>
            <a:ext cx="502920" cy="502920"/>
          </a:xfrm>
          <a:prstGeom prst="ellipse">
            <a:avLst/>
          </a:prstGeom>
          <a:solidFill>
            <a:srgbClr val="CFE4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97510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46888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90872" y="28803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cost-analysis/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billing period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excluded by the query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21040" y="160020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EFF5FB"/>
          </a:solidFill>
          <a:ln/>
          <a:effectLst>
            <a:outerShdw sx="100000" sy="100000" kx="0" ky="0" algn="bl" rotWithShape="0" blurRad="101600" dist="38100" dir="5400000">
              <a:srgbClr val="9FB4C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77072" y="1856232"/>
            <a:ext cx="502920" cy="502920"/>
          </a:xfrm>
          <a:prstGeom prst="ellipse">
            <a:avLst/>
          </a:prstGeom>
          <a:solidFill>
            <a:srgbClr val="CFE4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19751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77072" y="246888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/ Service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77072" y="28803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Query: 9-step M pipeline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Wide-and-flat Vertipaq model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measures · 13 relationships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report pages, refreshed daily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950208" y="2587752"/>
            <a:ext cx="384048" cy="310896"/>
          </a:xfrm>
          <a:prstGeom prst="rightArrow">
            <a:avLst/>
          </a:prstGeom>
          <a:solidFill>
            <a:srgbClr val="F2C811"/>
          </a:solidFill>
          <a:ln/>
        </p:spPr>
      </p:sp>
      <p:sp>
        <p:nvSpPr>
          <p:cNvPr id="20" name="Text 15"/>
          <p:cNvSpPr/>
          <p:nvPr/>
        </p:nvSpPr>
        <p:spPr>
          <a:xfrm>
            <a:off x="3538728" y="29535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CSV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836408" y="2587752"/>
            <a:ext cx="384048" cy="310896"/>
          </a:xfrm>
          <a:prstGeom prst="rightArrow">
            <a:avLst/>
          </a:prstGeom>
          <a:solidFill>
            <a:srgbClr val="F2C811"/>
          </a:solidFill>
          <a:ln/>
        </p:spPr>
      </p:sp>
      <p:sp>
        <p:nvSpPr>
          <p:cNvPr id="22" name="Text 17"/>
          <p:cNvSpPr/>
          <p:nvPr/>
        </p:nvSpPr>
        <p:spPr>
          <a:xfrm>
            <a:off x="7424928" y="29535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Data Reader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640080" y="4846320"/>
            <a:ext cx="420624" cy="420624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946904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0080" y="53583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fact tables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40080" y="565099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MCA and FOCUS 1.0 read the same files — deploy today, A/B compare, migrate to pure FOCUS later.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429000" y="4846320"/>
            <a:ext cx="420624" cy="420624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4946904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429000" y="53583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Wide-and-flat model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3429000" y="565099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live on the cost rows; only tags get a table (Dim-tags), since tag keys are unbounded.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217920" y="4846320"/>
            <a:ext cx="420624" cy="420624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4946904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17920" y="53583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refresh cadence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217920" y="565099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refresh scheduled 1–2 h after the Azure export lands; runs on existing Pro/PPU capacity.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9006840" y="4846320"/>
            <a:ext cx="420624" cy="420624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424" y="4946904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006840" y="53583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middleware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9006840" y="565099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reads blobs directly with Storage Blob Data Reader — no Synapse, Databricks, or Fabric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AROUND THE REPOSITORY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the IP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map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8483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011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powerbi/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Azure_Cost_Management_Template.pbit (open this) · dax/all-measures.dax (paste-ready) · queries-templete/ generic M files + queries-original/ reference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1810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304495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numbered guides: overview → prerequisites → quickstart → architecture → data model → Power Query line-by-line → DAX reference → customization → deployment → troubleshooting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15137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4078224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azure-setup/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setup-azure-exports.md — portal, Azure CLI and Bicep walkthroughs for the upstream Cost Management export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184648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5111496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architecture.svg for reuse in decks &amp; docs, plus previews of all three dashboard pages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6400800" y="1554480"/>
            <a:ext cx="5166360" cy="4160520"/>
          </a:xfrm>
          <a:prstGeom prst="roundRect">
            <a:avLst>
              <a:gd name="adj" fmla="val 2198"/>
            </a:avLst>
          </a:prstGeom>
          <a:solidFill>
            <a:srgbClr val="142C46"/>
          </a:solidFill>
          <a:ln/>
        </p:spPr>
      </p:sp>
      <p:sp>
        <p:nvSpPr>
          <p:cNvPr id="14" name="Text 8"/>
          <p:cNvSpPr/>
          <p:nvPr/>
        </p:nvSpPr>
        <p:spPr>
          <a:xfrm>
            <a:off x="67208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five steps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720840" y="2286000"/>
            <a:ext cx="347472" cy="347472"/>
          </a:xfrm>
          <a:prstGeom prst="ellipse">
            <a:avLst/>
          </a:prstGeom>
          <a:solidFill>
            <a:srgbClr val="F2C811"/>
          </a:solidFill>
          <a:ln/>
        </p:spPr>
      </p:sp>
      <p:sp>
        <p:nvSpPr>
          <p:cNvPr id="16" name="Text 10"/>
          <p:cNvSpPr/>
          <p:nvPr/>
        </p:nvSpPr>
        <p:spPr>
          <a:xfrm>
            <a:off x="6720840" y="22722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7223760" y="217627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daily export in Cost Management (Classic + FOCUS) to a blob container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720840" y="2953512"/>
            <a:ext cx="347472" cy="347472"/>
          </a:xfrm>
          <a:prstGeom prst="ellipse">
            <a:avLst/>
          </a:prstGeom>
          <a:solidFill>
            <a:srgbClr val="F2C811"/>
          </a:solidFill>
          <a:ln/>
        </p:spPr>
      </p:sp>
      <p:sp>
        <p:nvSpPr>
          <p:cNvPr id="19" name="Text 13"/>
          <p:cNvSpPr/>
          <p:nvPr/>
        </p:nvSpPr>
        <p:spPr>
          <a:xfrm>
            <a:off x="6720840" y="29397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223760" y="284378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Azure_Cost_Management_Template.pbit in Power BI Desktop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720840" y="3621024"/>
            <a:ext cx="347472" cy="347472"/>
          </a:xfrm>
          <a:prstGeom prst="ellipse">
            <a:avLst/>
          </a:prstGeom>
          <a:solidFill>
            <a:srgbClr val="F2C811"/>
          </a:solidFill>
          <a:ln/>
        </p:spPr>
      </p:sp>
      <p:sp>
        <p:nvSpPr>
          <p:cNvPr id="22" name="Text 16"/>
          <p:cNvSpPr/>
          <p:nvPr/>
        </p:nvSpPr>
        <p:spPr>
          <a:xfrm>
            <a:off x="6720840" y="36073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23760" y="351129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two prompts: BlobAccountUrl and ContainerName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720840" y="4288536"/>
            <a:ext cx="347472" cy="347472"/>
          </a:xfrm>
          <a:prstGeom prst="ellipse">
            <a:avLst/>
          </a:prstGeom>
          <a:solidFill>
            <a:srgbClr val="F2C811"/>
          </a:solidFill>
          <a:ln/>
        </p:spPr>
      </p:sp>
      <p:sp>
        <p:nvSpPr>
          <p:cNvPr id="25" name="Text 19"/>
          <p:cNvSpPr/>
          <p:nvPr/>
        </p:nvSpPr>
        <p:spPr>
          <a:xfrm>
            <a:off x="6720840" y="42748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223760" y="417880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an account holding Storage Blob Data Reader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720840" y="4956048"/>
            <a:ext cx="347472" cy="347472"/>
          </a:xfrm>
          <a:prstGeom prst="ellipse">
            <a:avLst/>
          </a:prstGeom>
          <a:solidFill>
            <a:srgbClr val="F2C811"/>
          </a:solidFill>
          <a:ln/>
        </p:spPr>
      </p:sp>
      <p:sp>
        <p:nvSpPr>
          <p:cNvPr id="28" name="Text 22"/>
          <p:cNvSpPr/>
          <p:nvPr/>
        </p:nvSpPr>
        <p:spPr>
          <a:xfrm>
            <a:off x="6720840" y="49423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223760" y="48463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— all three dashboards populate; publish &amp; schedule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40080" y="61722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first:  </a:t>
            </a:r>
            <a:pPr indent="0" marL="0">
              <a:buNone/>
            </a:pPr>
            <a:r>
              <a:rPr lang="en-US" sz="11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03-quickstart · 04-architecture · 07-dax-measures · 08-customization      </a:t>
            </a:r>
            <a:pPr indent="0" marL="0">
              <a:buNone/>
            </a:pPr>
            <a:r>
              <a:rPr lang="en-US" sz="11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</a:t>
            </a:r>
            <a:pPr indent="0" marL="0">
              <a:buNone/>
            </a:pPr>
            <a:r>
              <a:rPr lang="en-US" sz="1150" dirty="0">
                <a:solidFill>
                  <a:srgbClr val="CF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— fork it, rebrand it, ship it as your own IP.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2026-07-14T10:25:32Z</dcterms:created>
  <dcterms:modified xsi:type="dcterms:W3CDTF">2026-07-14T10:25:32Z</dcterms:modified>
</cp:coreProperties>
</file>